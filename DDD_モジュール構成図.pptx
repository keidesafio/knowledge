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モジュール構成図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62179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DDD（ドメイン駆動設計）サンプルアプリケーション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987552"/>
            <a:ext cx="8503920" cy="1115568"/>
          </a:xfrm>
          <a:prstGeom prst="roundRect">
            <a:avLst>
              <a:gd name="adj" fmla="val 6557"/>
            </a:avLst>
          </a:prstGeom>
          <a:solidFill>
            <a:srgbClr val="EEEDFE"/>
          </a:solidFill>
          <a:ln w="19050">
            <a:solidFill>
              <a:srgbClr val="6C63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6070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63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DDD.WinForm　プレゼンテーション層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29844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画面（View）+ 画面ロジック（ViewModel）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20040" y="2304288"/>
            <a:ext cx="8503920" cy="1115568"/>
          </a:xfrm>
          <a:prstGeom prst="roundRect">
            <a:avLst>
              <a:gd name="adj" fmla="val 6557"/>
            </a:avLst>
          </a:prstGeom>
          <a:solidFill>
            <a:srgbClr val="E1F5EE"/>
          </a:solidFill>
          <a:ln w="19050">
            <a:solidFill>
              <a:srgbClr val="1D9E7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37744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9E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DDD.Domain　ドメイン層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615184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業務ルールの中心。他に依存しない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" y="3621024"/>
            <a:ext cx="8503920" cy="1115568"/>
          </a:xfrm>
          <a:prstGeom prst="roundRect">
            <a:avLst>
              <a:gd name="adj" fmla="val 6557"/>
            </a:avLst>
          </a:prstGeom>
          <a:solidFill>
            <a:srgbClr val="FAECE7"/>
          </a:solidFill>
          <a:ln w="19050">
            <a:solidFill>
              <a:srgbClr val="D85A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69417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85A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DDD.Infrastructure　インフラ層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393192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DBアクセス実装（SQLite）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4754880"/>
            <a:ext cx="8503920" cy="475488"/>
          </a:xfrm>
          <a:prstGeom prst="roundRect">
            <a:avLst>
              <a:gd name="adj" fmla="val 15385"/>
            </a:avLst>
          </a:prstGeom>
          <a:solidFill>
            <a:srgbClr val="F1EFE8"/>
          </a:solidFill>
          <a:ln w="19050">
            <a:solidFill>
              <a:srgbClr val="5F5E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482803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5E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DDDTest.Tests　テスト層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5065776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ViewModelの単体テスト（Moq）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1536192"/>
            <a:ext cx="1737360" cy="512064"/>
          </a:xfrm>
          <a:prstGeom prst="roundRect">
            <a:avLst>
              <a:gd name="adj" fmla="val 10714"/>
            </a:avLst>
          </a:prstGeom>
          <a:solidFill>
            <a:srgbClr val="6C63D5"/>
          </a:solidFill>
          <a:ln w="12700">
            <a:solidFill>
              <a:srgbClr val="6C63D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1536192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WeatherLatestView</a:t>
            </a:r>
            <a:endParaRPr lang="en-US" sz="9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CCA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+ ViewModel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377440" y="1536192"/>
            <a:ext cx="1737360" cy="512064"/>
          </a:xfrm>
          <a:prstGeom prst="roundRect">
            <a:avLst>
              <a:gd name="adj" fmla="val 10714"/>
            </a:avLst>
          </a:prstGeom>
          <a:solidFill>
            <a:srgbClr val="6C63D5"/>
          </a:solidFill>
          <a:ln w="12700">
            <a:solidFill>
              <a:srgbClr val="6C63D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77440" y="1536192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WeatherListView</a:t>
            </a:r>
            <a:endParaRPr lang="en-US" sz="9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CCA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+ ViewModel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160520" y="1536192"/>
            <a:ext cx="1737360" cy="512064"/>
          </a:xfrm>
          <a:prstGeom prst="roundRect">
            <a:avLst>
              <a:gd name="adj" fmla="val 10714"/>
            </a:avLst>
          </a:prstGeom>
          <a:solidFill>
            <a:srgbClr val="6C63D5"/>
          </a:solidFill>
          <a:ln w="12700">
            <a:solidFill>
              <a:srgbClr val="6C63D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60520" y="1536192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WeatherSaveView</a:t>
            </a:r>
            <a:endParaRPr lang="en-US" sz="9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CCA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+ ViewModel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943600" y="1536192"/>
            <a:ext cx="1417320" cy="512064"/>
          </a:xfrm>
          <a:prstGeom prst="roundRect">
            <a:avLst>
              <a:gd name="adj" fmla="val 10714"/>
            </a:avLst>
          </a:prstGeom>
          <a:solidFill>
            <a:srgbClr val="6C63D5"/>
          </a:solidFill>
          <a:ln w="12700">
            <a:solidFill>
              <a:srgbClr val="6C63D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0" y="1536192"/>
            <a:ext cx="141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ViewModelBase</a:t>
            </a:r>
            <a:endParaRPr lang="en-US" sz="9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CCA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基底クラス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498080" y="1536192"/>
            <a:ext cx="1143000" cy="512064"/>
          </a:xfrm>
          <a:prstGeom prst="roundRect">
            <a:avLst>
              <a:gd name="adj" fmla="val 10714"/>
            </a:avLst>
          </a:prstGeom>
          <a:solidFill>
            <a:srgbClr val="6C63D5"/>
          </a:solidFill>
          <a:ln w="12700">
            <a:solidFill>
              <a:srgbClr val="6C63D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98080" y="1536192"/>
            <a:ext cx="1143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Program</a:t>
            </a:r>
            <a:endParaRPr lang="en-US" sz="9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CCA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起動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2852928"/>
            <a:ext cx="2103120" cy="512064"/>
          </a:xfrm>
          <a:prstGeom prst="roundRect">
            <a:avLst>
              <a:gd name="adj" fmla="val 10714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2852928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Entity</a:t>
            </a:r>
            <a:endParaRPr lang="en-US" sz="9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AAFF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WeatherEntity / AreaEntity</a:t>
            </a:r>
            <a:endParaRPr lang="en-US" sz="9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AAFF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識別子で同一性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43200" y="2852928"/>
            <a:ext cx="2103120" cy="512064"/>
          </a:xfrm>
          <a:prstGeom prst="roundRect">
            <a:avLst>
              <a:gd name="adj" fmla="val 10714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0" y="2852928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ValueObject</a:t>
            </a:r>
            <a:endParaRPr lang="en-US" sz="9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AAFF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Temperature / Condition / AreaId</a:t>
            </a:r>
            <a:endParaRPr lang="en-US" sz="9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AAFF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値で同一性・不変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029200" y="2852928"/>
            <a:ext cx="2286000" cy="512064"/>
          </a:xfrm>
          <a:prstGeom prst="roundRect">
            <a:avLst>
              <a:gd name="adj" fmla="val 10714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0" y="2852928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Repository IF</a:t>
            </a:r>
            <a:endParaRPr lang="en-US" sz="9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AAFF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IWeatherRepository</a:t>
            </a:r>
            <a:endParaRPr lang="en-US" sz="9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AAFF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IAreasRepository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498080" y="2852928"/>
            <a:ext cx="1143000" cy="512064"/>
          </a:xfrm>
          <a:prstGeom prst="roundRect">
            <a:avLst>
              <a:gd name="adj" fmla="val 10714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98080" y="2852928"/>
            <a:ext cx="1143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Guard / Helper</a:t>
            </a:r>
            <a:endParaRPr lang="en-US" sz="9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AAFF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入力検証</a:t>
            </a:r>
            <a:endParaRPr lang="en-US" sz="9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AAFF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型変換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" y="4169664"/>
            <a:ext cx="2103120" cy="475488"/>
          </a:xfrm>
          <a:prstGeom prst="roundRect">
            <a:avLst>
              <a:gd name="adj" fmla="val 11538"/>
            </a:avLst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169664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WeatherSQLite</a:t>
            </a:r>
            <a:endParaRPr lang="en-US" sz="9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D0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IWeatherRepository実装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743200" y="4169664"/>
            <a:ext cx="2103120" cy="475488"/>
          </a:xfrm>
          <a:prstGeom prst="roundRect">
            <a:avLst>
              <a:gd name="adj" fmla="val 11538"/>
            </a:avLst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0" y="4169664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AreasSQLite</a:t>
            </a:r>
            <a:endParaRPr lang="en-US" sz="9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D0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IAreasRepository実装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029200" y="4169664"/>
            <a:ext cx="1828800" cy="475488"/>
          </a:xfrm>
          <a:prstGeom prst="roundRect">
            <a:avLst>
              <a:gd name="adj" fmla="val 11538"/>
            </a:avLst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0" y="4169664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SQLiteHelper</a:t>
            </a:r>
            <a:endParaRPr lang="en-US" sz="9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D0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DB共通処理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040880" y="4169664"/>
            <a:ext cx="1600200" cy="475488"/>
          </a:xfrm>
          <a:prstGeom prst="roundRect">
            <a:avLst>
              <a:gd name="adj" fmla="val 11538"/>
            </a:avLst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040880" y="4169664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SQLite DB</a:t>
            </a:r>
            <a:endParaRPr lang="en-US" sz="9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D0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データファイル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434840" y="2103120"/>
            <a:ext cx="0" cy="182880"/>
          </a:xfrm>
          <a:prstGeom prst="line">
            <a:avLst/>
          </a:prstGeom>
          <a:noFill/>
          <a:ln w="19050">
            <a:solidFill>
              <a:srgbClr val="6C63D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434840" y="2286000"/>
            <a:ext cx="0" cy="9144"/>
          </a:xfrm>
          <a:prstGeom prst="line">
            <a:avLst/>
          </a:prstGeom>
          <a:noFill/>
          <a:ln w="19050">
            <a:solidFill>
              <a:srgbClr val="6C63D5"/>
            </a:solidFill>
            <a:prstDash val="solid"/>
            <a:tailEnd type="open"/>
          </a:ln>
        </p:spPr>
      </p:sp>
      <p:sp>
        <p:nvSpPr>
          <p:cNvPr id="44" name="Shape 42"/>
          <p:cNvSpPr/>
          <p:nvPr/>
        </p:nvSpPr>
        <p:spPr>
          <a:xfrm>
            <a:off x="4434840" y="3383280"/>
            <a:ext cx="0" cy="731520"/>
          </a:xfrm>
          <a:prstGeom prst="line">
            <a:avLst/>
          </a:prstGeom>
          <a:noFill/>
          <a:ln w="22860">
            <a:solidFill>
              <a:srgbClr val="1D9E75"/>
            </a:solidFill>
            <a:prstDash val="dash"/>
            <a:tailEnd type="open"/>
          </a:ln>
        </p:spPr>
      </p:sp>
      <p:sp>
        <p:nvSpPr>
          <p:cNvPr id="45" name="Text 43"/>
          <p:cNvSpPr/>
          <p:nvPr/>
        </p:nvSpPr>
        <p:spPr>
          <a:xfrm>
            <a:off x="4572000" y="212140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C63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依存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572000" y="374904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D9E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実装（DIP）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583680" y="2322576"/>
            <a:ext cx="21945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675120" y="23774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凡例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693408" y="2660904"/>
            <a:ext cx="320040" cy="0"/>
          </a:xfrm>
          <a:prstGeom prst="line">
            <a:avLst/>
          </a:prstGeom>
          <a:noFill/>
          <a:ln w="19050">
            <a:solidFill>
              <a:srgbClr val="6C63D5"/>
            </a:solidFill>
            <a:prstDash val="solid"/>
            <a:tailEnd type="open"/>
          </a:ln>
        </p:spPr>
      </p:sp>
      <p:sp>
        <p:nvSpPr>
          <p:cNvPr id="50" name="Text 48"/>
          <p:cNvSpPr/>
          <p:nvPr/>
        </p:nvSpPr>
        <p:spPr>
          <a:xfrm>
            <a:off x="7059168" y="258775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依存（実線）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6693408" y="2889504"/>
            <a:ext cx="320040" cy="0"/>
          </a:xfrm>
          <a:prstGeom prst="line">
            <a:avLst/>
          </a:prstGeom>
          <a:noFill/>
          <a:ln w="22860">
            <a:solidFill>
              <a:srgbClr val="1D9E75"/>
            </a:solidFill>
            <a:prstDash val="dash"/>
            <a:tailEnd type="open"/>
          </a:ln>
        </p:spPr>
      </p:sp>
      <p:sp>
        <p:nvSpPr>
          <p:cNvPr id="52" name="Text 50"/>
          <p:cNvSpPr/>
          <p:nvPr/>
        </p:nvSpPr>
        <p:spPr>
          <a:xfrm>
            <a:off x="7059168" y="281635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実装・DIP（点線）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365760" y="52852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9E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★ Domainは最内層。他のどの層にも依存しない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365760" y="546811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85A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★ InfrastructureはDomainのIFを実装（依存の向きが逆転 = DIP）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2026-07-12T15:06:34Z</dcterms:created>
  <dcterms:modified xsi:type="dcterms:W3CDTF">2026-07-12T15:06:34Z</dcterms:modified>
</cp:coreProperties>
</file>